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3B935-31D9-967F-0675-1E084B703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0B69E-703D-6B17-B426-9B4CB87FC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9BE4F-BBDF-220C-4743-39FB2DD87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D9F1-9925-4CE1-9944-8A47B4CD276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48EDD-7A66-E51F-81FC-D6E93B229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06586-0755-83BA-65BA-C79F8E27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CAA28-A5D1-4803-909B-CEBBF10A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6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A691F-A39B-9AC6-F378-DC4481FE6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5DE94-B0B4-CB14-6139-94C053E22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58EBB-3275-6698-9C5B-6E51127E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D9F1-9925-4CE1-9944-8A47B4CD276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DA88-60F0-3441-E06B-7699A0E93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ADB8E-15EC-4469-31A0-DF658F724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CAA28-A5D1-4803-909B-CEBBF10A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36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2A91-99E0-8A2B-E804-1D2D7B2BD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C70FA-03EF-598F-55AC-88566D83B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8F4BE-9604-932C-3CF2-ECD1B1CEE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D9F1-9925-4CE1-9944-8A47B4CD276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0DAA2-4B6B-EBDB-FC1E-4B0B90CE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47088-DA10-6B9D-E757-ABD0C01A6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CAA28-A5D1-4803-909B-CEBBF10A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60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7306-9394-ACD6-464C-486B1DA6C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1DBA3-DD19-CAB4-C000-D58C5C87F1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1C039-47C7-A5B3-C5D1-10325F836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17B9D-4DA0-E31F-7068-3CAD5AD81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D9F1-9925-4CE1-9944-8A47B4CD276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8B644-6706-3721-C1FA-8EB2A71F3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7AA90-2CD3-8282-B664-9105FCED7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CAA28-A5D1-4803-909B-CEBBF10A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3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8E2DA-3617-167D-E130-084FE53A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E12E3-E379-BB3E-80CD-ECADB8C5F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0A99E-4937-AE80-F6BB-467D1B6AD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2A681-16B2-4C18-5875-CB8FF2B5B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783B7F-2DD5-1C10-2CA7-E9444761AD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823C12-D4C5-2052-DC16-BD5AC32A5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D9F1-9925-4CE1-9944-8A47B4CD276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A820EB-F673-41EE-D262-7568DD216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20FAA2-4563-E243-51A9-CADF7CDEC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CAA28-A5D1-4803-909B-CEBBF10A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3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F27-50E0-484C-6374-2141E6B11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B3BCDC-C572-4ED3-F2A2-D76F4A53A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D9F1-9925-4CE1-9944-8A47B4CD276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72338-5CC4-479C-9CFF-985569BE3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70A215-92FE-E450-6382-42B50C22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CAA28-A5D1-4803-909B-CEBBF10A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2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973B18-F482-4086-89C4-17FDC752B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D9F1-9925-4CE1-9944-8A47B4CD276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C1E734-BACD-5967-F57C-7D205F0A5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790DE-5ED1-2A34-9075-3EBA36D4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CAA28-A5D1-4803-909B-CEBBF10A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6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3EA1-0EAB-FBCD-FBA4-5A5450625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ED90A-B9D7-82AB-8C03-C2D72D232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664C8-1849-7F02-F5CA-9BB993763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5F719-41C7-D5F1-FF4A-A8BCE9489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D9F1-9925-4CE1-9944-8A47B4CD276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CC09A-C704-2394-267E-3DD1DBE3A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61993-DE2B-E155-2945-7577522BD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CAA28-A5D1-4803-909B-CEBBF10A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186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3D74C-A67D-5DAE-97A1-252F2C608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F818FA-A076-59CA-FB9C-7B055E5E33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F7505-DEA3-6EF6-EB26-AA98155BA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64192-559E-B78E-D361-F97AFD0C9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D9F1-9925-4CE1-9944-8A47B4CD276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7A89-75A6-6E2F-3471-8BFACF974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8DD78-13B9-0994-B23C-4146B114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CAA28-A5D1-4803-909B-CEBBF10A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09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64AF7-1A99-899A-7537-E8D09739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6DFE8-A9AF-69B0-B9EE-3E54CFD5F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E7E72-1505-7ABF-7D26-CCA319212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D9F1-9925-4CE1-9944-8A47B4CD276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33D4E-8646-0673-3727-0F1E081BD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3667D-D7FB-1E40-4875-2EC735CDA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CAA28-A5D1-4803-909B-CEBBF10A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38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353D28-8F54-9743-6CE4-89059463B3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84A26-9520-695E-16EB-0F09F8370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55FD7-92B9-3D75-1C0A-AC9880D3F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D9F1-9925-4CE1-9944-8A47B4CD276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2E481-824B-CB75-A4E2-1AE777422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8E04A-4880-9AD9-A298-EF58EB7F3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CAA28-A5D1-4803-909B-CEBBF10A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272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61093-722F-0345-EE0E-31CDB9461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B44C6-85FF-E42D-4754-B99E993C8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B73AE-3BE4-A304-C591-396A9E6596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AD9F1-9925-4CE1-9944-8A47B4CD276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31A9F-A1AA-4248-8623-8E014155B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0C3FE-D0AA-CA48-C46E-ADED280C40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CAA28-A5D1-4803-909B-CEBBF10A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35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DC609-890A-E401-5E2D-319AADDF6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3400" dirty="0"/>
              <a:t>A Systematic Review of Evolving Ransomware Techniques and Defense Mechanisms in Critical Infrastructure Sectors Post-2017</a:t>
            </a:r>
            <a:br>
              <a:rPr lang="en-US" sz="3400" dirty="0"/>
            </a:br>
            <a:endParaRPr lang="en-US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34EA5-FACE-24D4-717C-38A2C8FAD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 fontScale="92500" lnSpcReduction="10000"/>
          </a:bodyPr>
          <a:lstStyle/>
          <a:p>
            <a:pPr algn="l" rtl="0"/>
            <a:r>
              <a:rPr lang="en-US" sz="1050" dirty="0"/>
              <a:t>IT22562074</a:t>
            </a:r>
          </a:p>
          <a:p>
            <a:pPr algn="l" rtl="0"/>
            <a:r>
              <a:rPr lang="en-US" sz="1050" dirty="0"/>
              <a:t>Mobile: 070-1463982</a:t>
            </a:r>
          </a:p>
          <a:p>
            <a:pPr algn="l" rtl="0"/>
            <a:r>
              <a:rPr lang="en-US" sz="1050" dirty="0"/>
              <a:t>Sri Lanka Institute of Information Technology (SLIIT)</a:t>
            </a:r>
          </a:p>
          <a:p>
            <a:pPr algn="l"/>
            <a:endParaRPr lang="en-US" sz="600" dirty="0"/>
          </a:p>
          <a:p>
            <a:pPr algn="l"/>
            <a:endParaRPr lang="en-US" sz="600" dirty="0"/>
          </a:p>
          <a:p>
            <a:pPr algn="l"/>
            <a:endParaRPr lang="en-US" sz="900" dirty="0"/>
          </a:p>
          <a:p>
            <a:pPr algn="l"/>
            <a:r>
              <a:rPr lang="en-US" sz="900" dirty="0"/>
              <a:t>Presented by JAYARATHNA K.P.G.C.M</a:t>
            </a:r>
          </a:p>
          <a:p>
            <a:pPr algn="l"/>
            <a:endParaRPr lang="en-US" sz="600" dirty="0"/>
          </a:p>
        </p:txBody>
      </p:sp>
      <p:pic>
        <p:nvPicPr>
          <p:cNvPr id="5" name="Picture 4" descr="A lock on a circuit board&#10;&#10;AI-generated content may be incorrect.">
            <a:extLst>
              <a:ext uri="{FF2B5EF4-FFF2-40B4-BE49-F238E27FC236}">
                <a16:creationId xmlns:a16="http://schemas.microsoft.com/office/drawing/2014/main" id="{5B27F1B6-581F-CC9A-0832-F0173F84C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54" r="-1" b="1584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003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923A89E-85F6-56E9-82D0-75BE1C302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Introduction</a:t>
            </a:r>
            <a:b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E4694-80BB-3402-FE24-AC27F70F80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Objective</a:t>
            </a:r>
            <a:r>
              <a:rPr lang="en-US" sz="1800">
                <a:solidFill>
                  <a:schemeClr val="tx2"/>
                </a:solidFill>
              </a:rPr>
              <a:t>: Analyze ransomware evolution and defenses in critical infrastructure post-2017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Scope</a:t>
            </a:r>
            <a:r>
              <a:rPr lang="en-US" sz="1800">
                <a:solidFill>
                  <a:schemeClr val="tx2"/>
                </a:solidFill>
              </a:rPr>
              <a:t>: Healthcare, energy, transportation, and more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Methodology</a:t>
            </a:r>
            <a:r>
              <a:rPr lang="en-US" sz="1800">
                <a:solidFill>
                  <a:schemeClr val="tx2"/>
                </a:solidFill>
              </a:rPr>
              <a:t>: PRISMA-based review of 25 peer-reviewed articles (2017–2024)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Key Threats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Double/triple extortion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Ransomware-as-a-Service (RaaS)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Why It Matters</a:t>
            </a:r>
            <a:r>
              <a:rPr lang="en-US" sz="1800">
                <a:solidFill>
                  <a:schemeClr val="tx2"/>
                </a:solidFill>
              </a:rPr>
              <a:t>: Threats to national/economic security</a:t>
            </a:r>
          </a:p>
        </p:txBody>
      </p:sp>
    </p:spTree>
    <p:extLst>
      <p:ext uri="{BB962C8B-B14F-4D97-AF65-F5344CB8AC3E}">
        <p14:creationId xmlns:p14="http://schemas.microsoft.com/office/powerpoint/2010/main" val="2377974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B5B539-7CDA-819F-337B-7527EA892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Ransomware Evolution Timeline</a:t>
            </a:r>
            <a:b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4511C-060C-4336-125F-D32A96056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Pre-2017</a:t>
            </a:r>
            <a:r>
              <a:rPr lang="en-US" sz="1800">
                <a:solidFill>
                  <a:schemeClr val="tx2"/>
                </a:solidFill>
              </a:rPr>
              <a:t>: Traditional Ransomware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CryptoLocker, Locky: Email spam, basic encryption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Targeted individuals/small organizations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2017 Shift</a:t>
            </a:r>
            <a:r>
              <a:rPr lang="en-US" sz="1800">
                <a:solidFill>
                  <a:schemeClr val="tx2"/>
                </a:solidFill>
              </a:rPr>
              <a:t>: WannaCry &amp; NotPetya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WannaCry: EternalBlue exploit, 230,000+ systems hit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NotPetya: Wiper with geopolitical motives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Post-2017</a:t>
            </a:r>
            <a:r>
              <a:rPr lang="en-US" sz="1800">
                <a:solidFill>
                  <a:schemeClr val="tx2"/>
                </a:solidFill>
              </a:rPr>
              <a:t>: Advanced Attacks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Double/triple extortion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RaaS and targeted infrastructure attacks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850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564586-E8BC-22C3-4C03-6F72A5658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Advanced Techniques</a:t>
            </a:r>
            <a:b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9213C-4626-0372-3A27-380BE7295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Double Extortion</a:t>
            </a:r>
            <a:r>
              <a:rPr lang="en-US" sz="1800">
                <a:solidFill>
                  <a:schemeClr val="tx2"/>
                </a:solidFill>
              </a:rPr>
              <a:t> (Maze, REvil)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Data theft + encryption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Public leak threats (e.g., REvil’s “Happy Blog”)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Case: JBS Foods (2021), $11M ransom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Triple Extortion</a:t>
            </a:r>
            <a:r>
              <a:rPr lang="en-US" sz="1800">
                <a:solidFill>
                  <a:schemeClr val="tx2"/>
                </a:solidFill>
              </a:rPr>
              <a:t> (Avaddon, SunCrypt)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Adds DDoS, third-party targeting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Case: Vastaamo (2020), patient data blackmail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RaaS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Kits with support, 20–30% revenue to developers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Average ransom: $110,000 (2019) → $800,000 (2023)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004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97296F-C0AD-1BA8-CEF7-281B93FB1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Sector-Specific Impacts</a:t>
            </a:r>
            <a:b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EA0DDB-0973-4631-AFF3-DB443C774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Healthcare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Universal Health Services (2020): 400+ systems down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Irish HSE (2021): €100M recovery cost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Energy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Colonial Pipeline (2021): $4.4M ransom, fuel crisis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Transportation/Water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Transnet (2021): Port disruptions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Water utility attacks (Florida, Israel)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Manufacturing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Norsk Hydro (2019): $60M loss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115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98E00BA3-A4E1-E19B-D980-A31215B51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Defense Mechanisms</a:t>
            </a:r>
            <a:b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B147AB-4503-D990-4661-5CA9DB2CEC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Signature-Based Detection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Uses known malware signatures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Weak against zero-day attacks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Behavior-Based Detection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Flags suspicious activities (e.g., PowerShell misuse)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Tools: CrowdStrike Falcon, Sophos Intercept X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Anomaly Detection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ML-based, ideal for SCADA systems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Tools: Darktrace, Cisco Stealthwatch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Zero Trust Architecture (ZTA)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Continuous verification, micro-segmentation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162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74E59BD-9B35-D96B-DC7A-8CC6F17DF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Advanced Defenses</a:t>
            </a:r>
            <a:b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772E38-B997-B20B-9120-E34E2ADA9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AI/ML-Based Detection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Supervised (Random Forest) and unsupervised (K-Means)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Challenge: False positives in critical settings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Incident Response Frameworks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NIST Cybersecurity Framework: Identify, Protect, Recover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MITRE ATT&amp;CK: Maps adversarial tactics (e.g., Conti T1059)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Benefit</a:t>
            </a:r>
            <a:r>
              <a:rPr lang="en-US" sz="1800">
                <a:solidFill>
                  <a:schemeClr val="tx2"/>
                </a:solidFill>
              </a:rPr>
              <a:t>: Enhances preparedness and threat hunting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494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DF0150-AF36-67A9-C898-BCAB6C528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Research Gaps</a:t>
            </a:r>
            <a:b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BBD626-3543-0C98-C243-69A86FA58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Real-Time Defenses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ML systems produce false positives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Legacy systems vulnerable to fileless ransomware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RaaS Attribution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Rebranding and tool reuse hinder forensics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Sector-Specific Policies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Outdated frameworks for healthcare, water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Proactive Threat Hunting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Limited red teaming in ICS/SCADA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337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F18CDE-64A0-D971-BE6B-D0C31A71D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Key Findings</a:t>
            </a:r>
            <a:b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77044-EAEE-31C5-32FF-3C386EAE4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Threat Trends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Strategic, high-value targets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Extortion models increase pressure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Defense Advances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Anomaly detection, ZTA, AI/ML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NIST/MITRE frameworks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Vulnerable Sectors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Healthcare, energy, transport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Legacy systems, uptime needs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Challenge</a:t>
            </a:r>
            <a:r>
              <a:rPr lang="en-US" sz="1800">
                <a:solidFill>
                  <a:schemeClr val="tx2"/>
                </a:solidFill>
              </a:rPr>
              <a:t>: Defenses lag behind threats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606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242EED4-D431-1ABB-A8B7-35AE9EB33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Conclusion</a:t>
            </a:r>
            <a:b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51426-42E0-760A-1D30-3E816E5E2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Ransomware Today</a:t>
            </a:r>
            <a:r>
              <a:rPr lang="en-US" sz="1800">
                <a:solidFill>
                  <a:schemeClr val="tx2"/>
                </a:solidFill>
              </a:rPr>
              <a:t>: Sophisticated, multi-layered attacks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Critical Infrastructure</a:t>
            </a:r>
            <a:r>
              <a:rPr lang="en-US" sz="1800">
                <a:solidFill>
                  <a:schemeClr val="tx2"/>
                </a:solidFill>
              </a:rPr>
              <a:t>: High risk to health, economy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Future Needs</a:t>
            </a:r>
            <a:r>
              <a:rPr lang="en-US" sz="1800">
                <a:solidFill>
                  <a:schemeClr val="tx2"/>
                </a:solidFill>
              </a:rPr>
              <a:t>: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Real-time, sector-specific defenses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AI-driven adaptive solutions</a:t>
            </a:r>
          </a:p>
          <a:p>
            <a:pPr marL="742950" lvl="1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Global collaboration for attribution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Call to Action</a:t>
            </a:r>
            <a:r>
              <a:rPr lang="en-US" sz="1800">
                <a:solidFill>
                  <a:schemeClr val="tx2"/>
                </a:solidFill>
              </a:rPr>
              <a:t>: Invest in proactive research and policies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312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8AC6B8-686D-A0EA-0937-F1C0990FC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713312"/>
            <a:ext cx="4038600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Q&amp;A</a:t>
            </a:r>
            <a:b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  <a:b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57E3BD-4D77-3940-A8D1-73ACCF521E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95999" y="713313"/>
            <a:ext cx="5257801" cy="54313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Contact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R="0" lvl="0" algn="l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	JAYARATHNA K.P.G.C.M</a:t>
            </a:r>
          </a:p>
          <a:p>
            <a:pPr marR="0" lvl="0" algn="l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	Mobile: 070-1463982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86667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584</Words>
  <Application>Microsoft Office PowerPoint</Application>
  <PresentationFormat>Widescreen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 Systematic Review of Evolving Ransomware Techniques and Defense Mechanisms in Critical Infrastructure Sectors Post-2017 </vt:lpstr>
      <vt:lpstr>Introduction </vt:lpstr>
      <vt:lpstr>Ransomware Evolution Timeline </vt:lpstr>
      <vt:lpstr>Advanced Techniques </vt:lpstr>
      <vt:lpstr>Sector-Specific Impacts </vt:lpstr>
      <vt:lpstr>Defense Mechanisms </vt:lpstr>
      <vt:lpstr>Advanced Defenses </vt:lpstr>
      <vt:lpstr>Research Gaps </vt:lpstr>
      <vt:lpstr>Key Findings </vt:lpstr>
      <vt:lpstr>Conclusion </vt:lpstr>
      <vt:lpstr>Q&amp;A Thank You!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chamara madushanka</dc:creator>
  <cp:lastModifiedBy>chamara madushanka</cp:lastModifiedBy>
  <cp:revision>1</cp:revision>
  <dcterms:created xsi:type="dcterms:W3CDTF">2025-05-06T14:06:27Z</dcterms:created>
  <dcterms:modified xsi:type="dcterms:W3CDTF">2025-05-06T14:27:17Z</dcterms:modified>
</cp:coreProperties>
</file>